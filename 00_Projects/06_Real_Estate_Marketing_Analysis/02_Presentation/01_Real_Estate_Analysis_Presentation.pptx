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644" y="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8320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754880" cy="4754880"/>
          </a:xfrm>
          <a:prstGeom prst="ellipse">
            <a:avLst/>
          </a:prstGeom>
          <a:solidFill>
            <a:srgbClr val="B85042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457200"/>
            <a:ext cx="3291840" cy="3291840"/>
          </a:xfrm>
          <a:prstGeom prst="ellipse">
            <a:avLst/>
          </a:prstGeom>
          <a:solidFill>
            <a:srgbClr val="B85042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ANALYTICS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Estate Price Analysis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9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Property Value from Location, Age &amp; Amenities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Abdullah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D9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Computer Science · University of Chakwal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(EDA &amp; Regression)  ·  Tableau (Interactive Dashboards)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1600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Price Drivers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9659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property and location factors most influence residential price per unit area.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2743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&amp; Transform Features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31089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time features from raw transaction dates and transform skewed variables to better fit a linear model.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3886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Predictive Model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42519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multiple linear regression to estimate price from house age, transit distance, amenities, and location.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5029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Findings Visually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53949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analysis into a reproducible notebook and an interactive Tableau dashboard for non-technical audiences.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9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Price Analysis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7E8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transactions — Sindian District, New Taipei City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373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414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54680" y="160020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54680" y="17373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154680" y="2423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Features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0" y="160020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0" y="17373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760720" y="2423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11064240" cy="3017518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0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transaction_date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of sale (decimal-year format)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house_age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of the property, in years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distance__mrt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to nearest MRT (transit) station, meters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convenience_stores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convenience stores within walking distance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latitude / longitude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Geographic coordinates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house_price_unit_area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— price per unit area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9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Price Analysis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522476" y="2880360"/>
            <a:ext cx="9144000" cy="0"/>
          </a:xfrm>
          <a:prstGeom prst="line">
            <a:avLst/>
          </a:prstGeom>
          <a:noFill/>
          <a:ln w="25400">
            <a:solidFill>
              <a:srgbClr val="A7BEAE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1110996" y="2468880"/>
            <a:ext cx="822960" cy="8229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1110996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76656" y="34290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6656" y="379476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columns,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nulls/duplicates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39796" y="2468880"/>
            <a:ext cx="822960" cy="82296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9" name="Text 7"/>
          <p:cNvSpPr/>
          <p:nvPr/>
        </p:nvSpPr>
        <p:spPr>
          <a:xfrm>
            <a:off x="2939796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505456" y="34290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05456" y="379476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transaction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&amp; month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68596" y="2468880"/>
            <a:ext cx="822960" cy="8229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4768596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334256" y="34290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34256" y="379476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trends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(EDA)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97396" y="2468880"/>
            <a:ext cx="822960" cy="82296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7" name="Text 15"/>
          <p:cNvSpPr/>
          <p:nvPr/>
        </p:nvSpPr>
        <p:spPr>
          <a:xfrm>
            <a:off x="6597396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163056" y="34290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63056" y="379476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square(house_age),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log(distance to MRT)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426196" y="2468880"/>
            <a:ext cx="822960" cy="8229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8426196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991856" y="34290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91856" y="379476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254996" y="2468880"/>
            <a:ext cx="822960" cy="82296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25" name="Text 23"/>
          <p:cNvSpPr/>
          <p:nvPr/>
        </p:nvSpPr>
        <p:spPr>
          <a:xfrm>
            <a:off x="10254996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820656" y="34290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820656" y="379476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R², Adj. R²,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RMSE, MAE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371600" y="53035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builds on the previous one — every transformation and modeling choice is driven by what the EDA reveals.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9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Price Analysis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7E8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Yearly Price Trend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492240" cy="4846320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plot_23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91640"/>
            <a:ext cx="5852160" cy="4005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60920" y="14630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60920" y="187452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B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transaction value per unit area in 2013 was roughly 2× that of 2012.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60920" y="3063240"/>
            <a:ext cx="4297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price per unit area also rose year-over-year, suggesting genuine market appreciation rather than just higher sales volume.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9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Price Analysis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Amenity Effect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589520" cy="4846320"/>
          </a:xfrm>
          <a:prstGeom prst="roundRect">
            <a:avLst>
              <a:gd name="adj" fmla="val 1132"/>
            </a:avLst>
          </a:prstGeom>
          <a:solidFill>
            <a:srgbClr val="F4EFE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plot_24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91640"/>
            <a:ext cx="6949440" cy="38221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5820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458200" y="187452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2B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nearby convenience stores tracks with higher price per unit area.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458200" y="324612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Walkability and amenity access are consistent value drivers across both 2012 and 2013 transactions.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9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Price Analysis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7E8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Transformation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4297680" cy="507492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280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74920" y="1143000"/>
            <a:ext cx="4297680" cy="507492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5303520" y="1280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9601200" y="173736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 err="1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house_age_sq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house_age^2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distance_mrt_log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log(1 + distance to MRT)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9601200" y="393192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skew and straightens relationships with price before fitting a linear model.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9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Price Analysis  |  7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F3AD248-C3C6-F38B-258F-A9ABE4231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268" y="1737360"/>
            <a:ext cx="3966423" cy="43251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8688760-BF29-E5C1-625B-5173645725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737360"/>
            <a:ext cx="4174394" cy="432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2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Note on Location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3A2F2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51460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9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doesn't vary linearly with latitude/longitude. Two coordinates close together can carry very different prices depending on what surrounds them — a pattern a straight-line model can't represent well.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80760" y="182880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2103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55080" y="25146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tree-based model (Random Forest / Gradient Boosting) would capture this spatial signal better by splitting the region into local pockets.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linear regression, latitude and longitude were kept in rather than dropped — excluding them would discard real signal, and their coefficients remain directionally informative.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Price Analysis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— Multiple Linear Regression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 Features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92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house_age_sq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957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distance_mrt_log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986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convenience_stores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401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9044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0" y="1463040"/>
            <a:ext cx="0" cy="3931920"/>
          </a:xfrm>
          <a:prstGeom prst="line">
            <a:avLst/>
          </a:prstGeom>
          <a:noFill/>
          <a:ln w="19050">
            <a:solidFill>
              <a:srgbClr val="E7E8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9360" y="1920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house_price_unit_area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9360" y="2651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09360" y="3063240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B85042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3063240"/>
            <a:ext cx="3364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601200" y="306324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A7BEAE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0" y="30632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37490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held out for unbiased evaluation. random_state=42 for reproducibility.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57784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4EFE8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5778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1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sklearn.linear_model.LinearRegression()  +  statsmodels.OLS()  for coefficient significance (p-values)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9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Price Analysis  |  9</a:t>
            </a:r>
            <a:endParaRPr lang="en-US" sz="900" dirty="0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08834D8A-1360-A7D9-221F-5D6BEC9CCC5E}"/>
              </a:ext>
            </a:extLst>
          </p:cNvPr>
          <p:cNvSpPr/>
          <p:nvPr/>
        </p:nvSpPr>
        <p:spPr>
          <a:xfrm>
            <a:off x="548640" y="4531574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9F77B98B-A190-56AF-DC8B-2A02054B7C5E}"/>
              </a:ext>
            </a:extLst>
          </p:cNvPr>
          <p:cNvSpPr/>
          <p:nvPr/>
        </p:nvSpPr>
        <p:spPr>
          <a:xfrm>
            <a:off x="822960" y="441270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2B211C"/>
                </a:solidFill>
                <a:latin typeface="Calibri" pitchFamily="34" charset="0"/>
                <a:cs typeface="Calibri" pitchFamily="34" charset="-120"/>
              </a:rPr>
              <a:t>transaction_date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7E8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the held-out 20% test set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974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01168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0.716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in price explained by the model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10712" y="1828800"/>
            <a:ext cx="26974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10712" y="201168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0.693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410712" y="28803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R²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93592" y="32918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penalized for number of predictors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72784" y="1828800"/>
            <a:ext cx="26974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72784" y="201168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</a:rPr>
              <a:t>6.91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272784" y="28803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55664" y="32918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prediction error, same units as price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34856" y="1828800"/>
            <a:ext cx="26974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34856" y="201168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4.45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134856" y="28803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17736" y="32918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absolute prediction error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11064240" cy="1737360"/>
          </a:xfrm>
          <a:prstGeom prst="roundRect">
            <a:avLst>
              <a:gd name="adj" fmla="val 3158"/>
            </a:avLst>
          </a:prstGeom>
          <a:solidFill>
            <a:srgbClr val="2B211C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6177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Result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498348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explains ~72% of the variation in price per unit area — solid for a 5-feature linear model on real transaction data. The remaining ~28% likely reflects the non-linear, spatial effects discussed on the previous slide, along with property-level factors (condition, floor, building quality) not captured in this dataset.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9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Price Analysis  |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B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Coefficients &amp; Slope Interpretation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all other features constant  ·  from statsmodels OLS on the full dataset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959890"/>
              </p:ext>
            </p:extLst>
          </p:nvPr>
        </p:nvGraphicFramePr>
        <p:xfrm>
          <a:off x="548640" y="1508759"/>
          <a:ext cx="11064240" cy="32004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house_age_sqrt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−1.928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Older properties (transformed) sell for less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distance_mrt_log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−5.938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Farther from transit → notably lower 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convenience_stores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nearby store adds modest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latitude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+295.21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north-south price gradient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5D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longitude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5D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+24.71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5D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B5D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statistically significant in this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2920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F4EFE8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5029200"/>
            <a:ext cx="10424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longitude's coefficient isn't statistically significant (p = 0.48) — a reminder that not every included feature earns its keep, and that spatial effects here are dominated by the north-south (latitude) axis rather than east-west.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9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Price Analysis  |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2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Tableau Dashboard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3A2F2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0116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View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15468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price trends by year, month, and amenity count with filterable, interactive charts.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51206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BE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https://public.tableau.com/app/profile/muhammad.abdullah6976/viz/RealEstateMaeketAnalysis/EDAView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80760" y="178308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20116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355080" y="26974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Dashboard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55080" y="31546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Visualizes model predictions, coefficients, and prediction error against actual sale prices.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55080" y="51206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https://public.tableau.com/shared/5TW74TFJG?:display_count=n&amp;:origin=viz_share_link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Price Analysis  |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2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993392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81051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distance and house age are the strongest, most significant price drivers in the model.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770632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58775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Amenity access (convenience stores) adds modest but statistically significant value.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547872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36499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coordinates are better suited to tree-based models — a clear next step for improving accuracy.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325112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414223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linear model explains ~71% of price variance (R² = 0.708) on unseen data — a solid, interpretable baseline.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53949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5897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Abdullah  ·  Kaggle &amp; GitHub portfolio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Price Analysis  | 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1064</Words>
  <Application>Microsoft Office PowerPoint</Application>
  <PresentationFormat>Widescreen</PresentationFormat>
  <Paragraphs>190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 Abdullah</cp:lastModifiedBy>
  <cp:revision>3</cp:revision>
  <dcterms:created xsi:type="dcterms:W3CDTF">2026-08-09T14:08:22Z</dcterms:created>
  <dcterms:modified xsi:type="dcterms:W3CDTF">2026-08-09T14:40:08Z</dcterms:modified>
</cp:coreProperties>
</file>